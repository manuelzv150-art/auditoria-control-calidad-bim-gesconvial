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6731000"/>
            <a:ext cx="4064000" cy="381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21200" y="6731000"/>
            <a:ext cx="1524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0" y="6197600"/>
            <a:ext cx="2413000" cy="4064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0" y="6197600"/>
            <a:ext cx="2413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 i="0">
                <a:solidFill>
                  <a:srgbClr val="FFFFFF"/>
                </a:solidFill>
                <a:latin typeface="Montserrat"/>
              </a:rPr>
              <a:t>AUDITORÍA BIM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6510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02A43"/>
                </a:solidFill>
                <a:latin typeface="Montserrat"/>
              </a:rPr>
              <a:t>Curso Especializado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968500"/>
            <a:ext cx="5588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B1220"/>
                </a:solidFill>
                <a:latin typeface="Montserrat"/>
              </a:rPr>
              <a:t>Auditoría y Control de Calidad BIM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28575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52677F"/>
                </a:solidFill>
                <a:latin typeface="Montserrat"/>
              </a:rPr>
              <a:t>Curso BIM — Sesión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" y="3175000"/>
            <a:ext cx="5207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52677F"/>
                </a:solidFill>
                <a:latin typeface="Montserrat"/>
              </a:rPr>
              <a:t>Diferencias entre modelos, indicadores de cumplimiento, riesgos técnicos, informe de revisión, matriz de observaciones y automatización de auditorías.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38735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102A43"/>
                </a:solidFill>
                <a:latin typeface="Montserrat"/>
              </a:rPr>
              <a:t>Ing. Manuel Bencomo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01 / 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1379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43"/>
                </a:solidFill>
                <a:latin typeface="Montserrat"/>
              </a:rPr>
              <a:t>Agenda de la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0320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0320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Marco normativo: ISO 19650 y Plan BIM Perú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23114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400" y="24638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4638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Diferencias entre modelos BIM (Diseño / Construcción / O&amp;M)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00" y="27432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400" y="28956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8956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Indicadores BIM de cumplimiento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31750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400" y="33274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33274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Identificación de riesgos técnicos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00" y="36068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400" y="37592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7592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Matriz de observaciones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400" y="40386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400" y="4191000"/>
            <a:ext cx="50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6003C"/>
                </a:solidFill>
                <a:latin typeface="Montserrat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191000"/>
            <a:ext cx="1016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Automatización de auditorías BIM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400" y="447040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Contexto y 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Por qué auditar y controlar la calidad de los modelos BIM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Por qué controlar la calidad en BIM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Un modelo con errores se propaga a presupuestos, cronogramas y obra: el costo de corregir crece cada fase.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La auditoría convierte el control de calidad de un juicio subjetivo en un proceso repetible y medible.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control de calidad no es solo geometría: incluye la información asociada al elemento (LOI) y su trazabilidad.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Un buen control de calidad reduce RFI, interferencias en obra y sobrecostos.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ISO 19650: estructura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Familia de normas internacionales para la gestión de la información con metodología BIM a lo largo del ciclo de vida del activo.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Sustituye y ordena prácticas previas (BS 1192, PAS 1192) bajo un estándar único, adoptable por cualquier país u organización.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Distingue dos macro-fases: la fase de desarrollo (diseño y construcción) y la fase de operación del activo.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Introduce el Entorno Común de Datos (CDE) como espacio único de gestión de la información del proyecto.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Las cinco partes de ISO 19650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853440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Parte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Contenido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ISO 19650-1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Conceptos y principios generales de la gestión de información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ISO 19650-2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Procesos durante la fase de desarrollo del activo (diseño y construcción)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ISO 19650-3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Gestión de la información en la fase operativa del activo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ISO 19650-4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Intercambio de información en entornos BIM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ISO 19650-5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Enfoque de seguridad para la gestión de la información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60500"/>
            <a:ext cx="11379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02A43"/>
                </a:solidFill>
                <a:latin typeface="Montserrat"/>
              </a:rPr>
              <a:t>Estados del Entorno Común de Datos (CDE)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6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Trabajo en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Documentos internos, sin aprobar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96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22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Compartido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22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Información revisada y accesible al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82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38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Publicado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Información autorizada para uso activo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24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94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Archivado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4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Registro final del proyecto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EIR y BEP: quién exige, quién entrega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EIR — Exchange Information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Los define el cliente/promotor.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Especifican qué información necesita recibir.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Son la referencia contra la que se audita el cumplimiento.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49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7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BEP — BIM Execution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Lo elabora el equipo del proyecto.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Detalla cómo se gestionará y entregará esa información.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Incluye LOD/LOI objetivo, roles y flujo de revisión.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CONTEXTO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Plan BIM Perú: el marco local sobre ISO 19650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Base normativa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DS N.° 237-2019-EF aprueba el Plan Nacional de Competitividad y Productividad, con la Medida de Política 1.2: adopción progresiva de BIM.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DS N.° 289-2019-EF aprueba disposiciones específicas para incorporar BIM en la inversión pública, modificado por el DS N.° 108-2021-EF.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49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7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Gobernanza y 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Lo lidera el MEF a través de la PMO BIM Perú (Dirección General de Programación Multianual de Inversiones).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Aplica a entidades de los tres niveles de gobierno sujetas al Sistema Invierte.pe.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4 líneas estratégicas: liderazgo público, marco colaborativo, fortalecimiento de capacidades, difusión de la visión.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09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CONTEXTO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Hoja de ruta del Plan BIM Perú (Plan Nacional de Competitividad y Productividad 2024-2030)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796544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Horizonte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Meta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 julio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BIM aplicado en proyectos de gobierno nacional y regional; marco normativo aprobado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 julio 2030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BIM obligatorio en gobierno nacional y regional; implementación en gobierno local; plataforma tecnológica operativa; currícula BIM en educación superior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EIR y BEP para un sistema de drenaje pluvial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cliente (EIR) exige el modelo con pendientes de tubería, diámetros, cotas de invert y capacidad hidráulica verificable.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BEP del proyecto fija LOD 300 para el diseño conceptual y LOD 350-400 para la red antes de construcción.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Si el proyecto es una inversión pública sujeta a Invierte.pe, el Plan BIM Perú exige este mismo par EIR/BEP.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6096000"/>
            <a:ext cx="11379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52677F"/>
                </a:solidFill>
                <a:latin typeface="Montserrat"/>
              </a:rPr>
              <a:t>Ejemplo transversal de la sesión: sistema de drenaje pluvial.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Diferencias entre modelos BIM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Diseño, Construcción y Operación &amp; Mantenimiento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CONCEPTOS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LOD, LOI y LOIN: tres preguntas distintas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LOD — Level of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Nivel de desarrollo geométrico.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De representación conceptual a definición constructiva precisa.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8733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6533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6533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LOI — Level of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533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Información no geométrica del elemento.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Materiales, costos, propiedades técnicas, datos de mantenimiento.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1067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8867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8867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LOIN — Level of Information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8867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Estándar ISO 19650.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Pregunta qué información es realmente necesaria, no solo cuánta.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CONCEPTOS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LOD vs. LOI vs. LOIN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/>
                <a:gridCol w="4551680"/>
                <a:gridCol w="455168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Concepto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mide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Pregunta que responde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Precisión geométrica del elemento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¿Qué tan detallada es la forma?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LOI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Datos no geométricos asociados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¿Qué información lleva el elemento?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Necesidad real de información (ISO 19650)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¿Para qué se necesita esa información?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MODELOS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Modelo de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LOD bajo en etapas tempranas, creciendo hacia definiciones constructivas.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Prioriza coordinación espacial, toma de decisiones y cumplimiento normativo.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La información es conceptual y evoluciona con cada hito de diseño.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Público: arquitectos, ingenieros de diseño, cliente.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MODELOS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Modelo de 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LOD y LOI altos: geometría precisa apta para fabricación e instalación (LOD 350-400).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Incorpora secuenciación constructiva, cantidades y especificaciones.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Coordinación multidisciplinaria activa: detección de interferencias (clash detection).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Público: contratistas y subcontratistas que ejecutan la obra.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MODELOS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Modelo de Operación y Mantenimiento (O&amp;M)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No hereda todo el modelo de construcción: contiene solo lo necesario para operar y mantener el activo.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Incluye garantías, manuales, ciclos de mantenimiento, proveedores y códigos de clasificación.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público cambia: de diseñadores/constructores a gestores de instalaciones (facility management).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Se rige por ISO 19650-3, dedicada específicamente a la fase operativa.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EL PUENTE ENTRE FASES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COBie: Construction Operations Building Information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Estándar abierto que estructura los datos del activo en una hoja de cálculo (.xlsx) interoperable.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Se puebla durante diseño y construcción: espacios, equipos, sistemas y componentes.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Se transfiere a sistemas GMAO/CMMS que usan los equipos de mantenimiento.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Automatizable: extensiones como "Autodesk COBie Extension" generan la hoja directamente desde el modelo.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EL CICLO DEL ACTIVO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60500"/>
            <a:ext cx="11379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02A43"/>
                </a:solidFill>
                <a:latin typeface="Montserrat"/>
              </a:rPr>
              <a:t>Del modelo de Diseño al modelo de O&amp;M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6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LOD bajo-medio · geometría conceptual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96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22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Construcción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22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LOD 350-400 · coordinación y cantidades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82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38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Traspaso COBie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Extracción de datos de activo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94100"/>
            <a:ext cx="355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003C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2400" y="3048000"/>
            <a:ext cx="2413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9400" y="3492500"/>
            <a:ext cx="2159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Operación y Mantenimiento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400" y="3848100"/>
            <a:ext cx="215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75" b="0" i="0">
                <a:solidFill>
                  <a:srgbClr val="52677F"/>
                </a:solidFill>
                <a:latin typeface="Montserrat"/>
              </a:rPr>
              <a:t>LOI alto · datos de mantenimiento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SÍNTESIS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Resumen comparativo de los tres modelos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424"/>
                <a:gridCol w="2958592"/>
                <a:gridCol w="2958592"/>
                <a:gridCol w="2958592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Modelo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Nivel de detalle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Público objetivo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Propósito principal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LOD bajo → 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Diseñadores,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Decisiones y cumplimiento normativo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Construcción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LOD 350-400, LOI alto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Contratistas, subcontratistas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Coordinación, fabricación e instalación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Operación y Mantenimiento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LOD moderado, LOI muy 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Gestores de instalaciones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Operar y mantener el activo (COBie)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El mismo sistema de drenaje, tres modelos distintos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592"/>
                <a:gridCol w="8420608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Modelo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contiene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Trazado conceptual de tuberías, pendientes preliminares, puntos de descarga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Construcción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Diámetros y materiales definitivos, cotas de invert, cajas de registro, LOD 350-400, coordinación con cimentación y otras redes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Operación y Mantenimiento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Datos COBie: frecuencia de limpieza, vida útil de tuberías, proveedor de mantenimiento, planos as-built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Indicadores BIM de cumplimiento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Cómo medir el desempeño de la implementación BIM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KPI BIM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Qué son los indicadores clave de desempeño (KPI)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Miden tiempo, costo y alcance de las acciones tomadas en torno a la metodología BIM.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Cada organización se mide contra su propia línea base, no contra un estándar externo fijo.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Se aplican bajo el ciclo de mejora continua Deming: Planear → Hacer → Revisar → Actuar.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Referencia ampliamente citada: propuesta de 14 KPI en 4 grupos (BIM Forum Colombia / CAMACOL).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KPI BIM · GRUPO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Conceptualización, prefactibilidad y diseño esquemático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7520"/>
                <a:gridCol w="455168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mide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Variación de tiempo en definición de alternativas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Reducir tiempos de 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Variación presupuesto factibilidad vs. ejecución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Precisión presupuestaria temprana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Tiempo de generación del presupuesto preliminar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Velocidad de presupuestación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KPI BIM · GRUPO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Anteproyecto y documentación para construcción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7520"/>
                <a:gridCol w="455168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mide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Disminución de solicitudes de cambio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Reducir inconsistencias de 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Reducción de RFI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Mejorar claridad de coordinación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Tiempo de presupuestación (normalizado por 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Acelerar cuantificación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Variación presupuesto anteproyecto vs. ejecución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Precisar estimaciones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KPI BIM · GRUPO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Pre-construcción y compras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7520"/>
                <a:gridCol w="455168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mide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Variabilidad cantidades teóricas vs. reales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Optimizar gestión de materiales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Tiempo de cálculo de cantidades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Cumplir cronograma de compras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Actividades no programadas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Optimizar cronograma de obra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Tiempo de generación de cronogramas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Acelerar programación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KPI BIM · GRUPO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Construcción / ejecución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7520"/>
                <a:gridCol w="455168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Qué mide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Interferencias en obra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Reducir conflictos constructivos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Variación de RFI durante ejecución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Contar con información clara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Cambios de programación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Hacer seguimiento efectivo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CUMPLIMIENTO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Indicadores de cumplimiento a nivel de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% de elementos con LOD/LOI conforme al BEP acordado.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% de parámetros obligatorios completos por disciplina.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N.º de advertencias críticas (duplicados, geometría) por entrega.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% de interferencias resueltas frente a las detectadas.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Estos indicadores se contrastan directamente contra los EIR definidos por el cliente.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KPI sobre la red de drenaje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Variación de cantidades teóricas vs. reales de tubería instalada (metros lineales).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N.º de interferencias en obra entre la red de drenaje y las redes eléctrica y de agua potable.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RFI generados por pendientes insuficientes detectadas ya en construcción.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Identificación de riesgos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De la detección reactiva a la prevención en el 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RIESGOS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Qué son los riesgos técnicos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Implican fallos en el diseño o en la tecnología utilizada: errores de modelado, incompatibilidades entre disciplinas, datos incompletos.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También incluyen fallas de interoperabilidad de software entre las herramientas del equipo.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La responsabilidad de gestionarlos recae principalmente en los consultores/proyectistas de cada especialidad.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BIM Manager coordina la trazabilidad de estos riesgos entre disciplinas.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IDENTIFICACIÓN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Tres métodos de identificación de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Análisis de documentos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Revisión de contratos, planos y especificaciones.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Detecta vacíos o inconsistencias contra el BEP.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8733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6533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6533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Lluvia de ideas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533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Sesiones con el equipo multidisciplinario.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Anticipa conflictos antes de modelar.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1067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8867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8867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Entrevistas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8867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Consulta a expertos técnicos y partes interesadas.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Estructuras, MEP, arquitectura señalan puntos críticos.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APORTE DE BIM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De la corrección reactiva a la prevención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Detección de interferencias (clash detection) entre disciplinas en el modelo federado.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Simulaciones de constructibilidad y secuenciación (4D) antes de llegar a obra.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Verificación normativa automática: accesibilidad, protección contra incendios, rutas de evacuación.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El modelo 3D federado permite visualizar, analizar y mitigar problemas antes de la ejecución.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REGISTRO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Ejemplo de registro de un riesgo técnico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853440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Ejemplo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Interferencia entre ducto HVAC y viga estructural, nivel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Probabilidad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Retrabajo en obra + retraso de 5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Coordinador MEP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Mitigación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Resolver en modelo antes de emitir para construcción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Riesgo técnico en el sistema de drenaje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8534400"/>
              </a:tblGrid>
              <a:tr h="571500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Ejemplo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Pendiente de tubería inferior al mínimo normativo (1%), detectada en 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Probabilidad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Media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Estancamiento de aguas pluviales, retrabajo de excavación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Ingeniero sanitario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Mitigación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Corregir cotas en el modelo antes de emitir para construcción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Matriz de observaciones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La tabla de trazabilidad que conecta auditoría y gestión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MATRIZ DE OBSERVACIONES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Campos típicos de la matriz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592"/>
                <a:gridCol w="8420608"/>
              </a:tblGrid>
              <a:tr h="357909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Descripción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N.°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Correlativo del hallazgo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Disciplina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Arquitectura, estructuras, MEP, etc.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Elemento / Ubicación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Elemento del modelo y su ubicación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Descripción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Qué no cumple y respecto a qué requisito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Severidad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Crítica / mayor / menor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Tipo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Geométrico, de información, de coordinación, normativo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Quién debe subsanarlo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Fecha límite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Plazo de levantamiento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35790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Abierta / en proceso / cerrada / no aplica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91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Evidencia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Captura, vista 3D o ID del clash asociado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USO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Qué hace la matriz además de documentar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Cuantifica el indicador "% de observaciones cerradas vs. abiertas" en cada corte del proyecto.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Es la base de las reuniones de coordinación BIM (BIM Coordination Meetings).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Permite medir tendencia por disciplina: quién genera más hallazgos y con qué severidad.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Se retroalimenta directamente de los KPI de interferencias vistos en la sección 03.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02A43"/>
                </a:solidFill>
                <a:latin typeface="Montserrat"/>
              </a:rPr>
              <a:t>Una observación real de la red de drenaje en la matriz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6400" y="2159000"/>
          <a:ext cx="113792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7965440"/>
              </a:tblGrid>
              <a:tr h="437444"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Montserrat"/>
                        </a:rPr>
                        <a:t>Valor</a:t>
                      </a:r>
                    </a:p>
                  </a:txBody>
                  <a:tcPr>
                    <a:solidFill>
                      <a:srgbClr val="06366B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N.°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Disciplina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Sanitaria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Elemento / Ubicación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Tubería de drenaje pluvial, nivel -1, eje C-D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Descripción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La tubería atraviesa una viga de cimentación sin holgura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Severidad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Crítica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Tipo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Coordinación (clash)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37444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Coordinador MEP / sanitario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44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Estado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02A43"/>
                          </a:solidFill>
                          <a:latin typeface="Montserrat"/>
                        </a:rPr>
                        <a:t>Abierta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905000"/>
            <a:ext cx="11379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 i="0">
                <a:solidFill>
                  <a:srgbClr val="E6003C"/>
                </a:solidFill>
                <a:latin typeface="Montserra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921000"/>
            <a:ext cx="952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Automatización de auditorías BIM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3683000"/>
            <a:ext cx="825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C9D6E4"/>
                </a:solidFill>
                <a:latin typeface="Montserrat"/>
              </a:rPr>
              <a:t>De la revisión manual a la verificación programada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Solibri y Dynamo: dos formas de automatizar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Solibri — Model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Compara el modelo contra reglas parametrizables.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Nomenclatura, normativa, propiedades, espacios MEP, accesibilidad, evacuación.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Reglas personalizables por proyecto u organización.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4900" y="2159000"/>
            <a:ext cx="56007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700" y="2336800"/>
            <a:ext cx="5245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654300"/>
            <a:ext cx="52451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Dynamo — visual scripting en Revit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3149600"/>
            <a:ext cx="52451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Automatiza tareas repetitivas de control de calidad.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Valida masivamente parámetros y cumplimiento normativo.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Exporta datos para auditoría de metadata (información no gráfica).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AUTOMATIZACIÓN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Tres procesos de auditoría que la IA puede automatizar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Clasificación automática de clashes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Modelos de visión por computadora priorizan las interferencias detectadas por severidad y disciplina.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Reduce la revisión manual clash por clash.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8733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6533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6533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Redacción de la matriz de observaciones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533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IA generativa convierte los reportes crudos de Solibri/Navisworks en descripciones claras y accionables.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Acelera el paso de hallazgo técnico a fila de matriz.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1067" y="2159000"/>
            <a:ext cx="3674533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8867" y="2336800"/>
            <a:ext cx="3318933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6003C"/>
                </a:solidFill>
                <a:latin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8867" y="2654300"/>
            <a:ext cx="3318933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102A43"/>
                </a:solidFill>
                <a:latin typeface="Montserrat"/>
              </a:rPr>
              <a:t>Predicción de riesgos técnicos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8867" y="3149600"/>
            <a:ext cx="3318933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Modelos de machine learning analizan RFI y cambios históricos del proyecto.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550">
                <a:solidFill>
                  <a:srgbClr val="52677F"/>
                </a:solidFill>
                <a:latin typeface="Montserrat"/>
              </a:rPr>
              <a:t>•  Anticipan qué zonas del modelo son más propensas a interferencias.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HERRAMIENTAS Y BENEFICIOS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Navisworks y beneficios de automatizar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Navisworks: detección automática de interferencias (clash detection) entre disciplinas federadas.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Cobertura del 100% del modelo frente al muestreo manual.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Repetibilidad: mismas reglas en cada entrega, permitiendo medir tendencia (KPI de la sección 03).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Trazabilidad directa hacia la matriz de observaciones y el informe técnico.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Libera al equipo BIM para enfocarse en hallazgos de criterio, no en errores mecánicos.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6003C"/>
                </a:solidFill>
                <a:latin typeface="Montserrat"/>
              </a:rPr>
              <a:t>EJEMPLO APLICADO — SISTEMA DE DRENAJE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4732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Automatizar la auditoría de la red de drenaje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159000"/>
            <a:ext cx="104775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Un script de Dynamo valida automáticamente que toda tubería cumpla la pendiente mínima normativa (1%).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Una regla de Solibri detecta cruces entre la red de drenaje y elementos estructurales.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00">
                <a:solidFill>
                  <a:srgbClr val="102A43"/>
                </a:solidFill>
                <a:latin typeface="Montserrat"/>
              </a:rPr>
              <a:t>•  Un modelo de IA clasifica y prioriza los clashes de la red de drenaje antes de que un humano los revise.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206500"/>
            <a:ext cx="11379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2A43"/>
                </a:solidFill>
                <a:latin typeface="Montserrat"/>
              </a:rPr>
              <a:t>Resumen de la sesión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" y="1651000"/>
            <a:ext cx="7620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400" y="1803400"/>
            <a:ext cx="11379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52677F"/>
                </a:solidFill>
                <a:latin typeface="Montserrat"/>
              </a:rPr>
              <a:t>Del modelo a la evidencia: diferenciar, medir, prevenir, documentar y automatizar.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2159000"/>
            <a:ext cx="113792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Marco normativo: ISO 19650 y su adaptación local, el Plan BIM Perú (DS 289-2019-EF, hoja de ruta a 2025-2030).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Diferencias entre modelos: LOD/LOI/LOIN y el traspaso COBie hacia O&amp;M.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Indicadores: 14 KPI de gestión + indicadores de cumplimiento del modelo.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Riesgos técnicos: identificación preventiva apoyada en el modelo federado.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Matriz de observaciones: la trazabilidad que conecta auditoría y gestión, exigida en inversión pública peruana.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600">
                <a:solidFill>
                  <a:srgbClr val="102A43"/>
                </a:solidFill>
                <a:latin typeface="Montserrat"/>
              </a:rPr>
              <a:t>•  Automatización: Solibri, Dynamo y Navisworks como aceleradores, no reemplazo del criterio técnico.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19050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2286000"/>
            <a:ext cx="10477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FF6B8F"/>
                </a:solidFill>
                <a:latin typeface="Montserrat"/>
              </a:rPr>
              <a:t>REFLEXIÓN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2603500"/>
            <a:ext cx="10160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“La estandarización no se corrige a mitad de obra: se diseña el primer día del proyecto.”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4064000"/>
            <a:ext cx="98425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50" b="0" i="0">
                <a:solidFill>
                  <a:srgbClr val="C9D6E4"/>
                </a:solidFill>
                <a:latin typeface="Montserrat"/>
              </a:rPr>
              <a:t>Cada nomenclatura, cada plantilla, cada regla de LOD/LOI que se define antes del primer trazo cuesta minutos. La misma regla, impuesta después de que el equipo ya modeló a su manera, cuesta semanas de retrabajo y observaciones repetidas. Auditar bien un modelo empieza por exigir, desde el kickoff, el mismo EIR, el mismo BEP y los mismos criterios de calidad para todas las disciplinas — en Gesconvial, esa disciplina temprana es la que hace que la auditoría sea una confirmación, no una corrección.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502400"/>
            <a:ext cx="113792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857250"/>
            <a:ext cx="11379200" cy="6350"/>
          </a:xfrm>
          <a:prstGeom prst="rect">
            <a:avLst/>
          </a:prstGeom>
          <a:solidFill>
            <a:srgbClr val="D9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6731000"/>
            <a:ext cx="4064000" cy="381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21200" y="6731000"/>
            <a:ext cx="152400" cy="381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0" y="6197600"/>
            <a:ext cx="2413000" cy="4064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0" y="6197600"/>
            <a:ext cx="2413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1" i="0">
                <a:solidFill>
                  <a:srgbClr val="FFFFFF"/>
                </a:solidFill>
                <a:latin typeface="Montserrat"/>
              </a:rPr>
              <a:t>GESCONVIAL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26670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E6003C"/>
                </a:solidFill>
                <a:latin typeface="Montserrat"/>
              </a:rPr>
              <a:t>SESIÓN 6 · AUDITORÍA Y CONTROL DE CALIDAD BIM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2984500"/>
            <a:ext cx="5588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02A43"/>
                </a:solidFill>
                <a:latin typeface="Montserrat"/>
              </a:rPr>
              <a:t>¡Gracias!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3873500"/>
            <a:ext cx="508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50" b="0" i="0">
                <a:solidFill>
                  <a:srgbClr val="52677F"/>
                </a:solidFill>
                <a:latin typeface="Montserrat"/>
              </a:rPr>
              <a:t>Preguntas, comentarios y observaciones son bienvenidos para seguir estandarizando juntos.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02400"/>
            <a:ext cx="609600" cy="355600"/>
          </a:xfrm>
          <a:prstGeom prst="rect">
            <a:avLst/>
          </a:prstGeom>
          <a:solidFill>
            <a:srgbClr val="E6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6553200"/>
            <a:ext cx="8255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Auditoría y Control de Calidad BIM · Sesión 6 · Gesconvial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0" y="6553200"/>
            <a:ext cx="18542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50" b="0" i="0">
                <a:solidFill>
                  <a:srgbClr val="FFFFFF"/>
                </a:solidFill>
                <a:latin typeface="Montserrat"/>
              </a:rPr>
              <a:t>47 /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